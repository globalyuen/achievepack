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1A4D2E"/>
                </a:solidFill>
              </a:defRPr>
            </a:pPr>
            <a:r>
              <a:t>Achieve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Certified Eco-Friendly Packaging Solutions</a:t>
            </a:r>
          </a:p>
          <a:p>
            <a:r>
              <a:t>for Global Brands</a:t>
            </a:r>
          </a:p>
        </p:txBody>
      </p:sp>
      <p:pic>
        <p:nvPicPr>
          <p:cNvPr id="4" name="Picture 3" descr="ppt_hero_packaging_1769248866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Making sustainable packaging the easy choice for every business.</a:t>
            </a:r>
          </a:p>
          <a:p>
            <a:pPr>
              <a:spcAft>
                <a:spcPts val="1000"/>
              </a:spcAft>
              <a:defRPr sz="2000"/>
            </a:pPr>
            <a:r>
              <a:t>Founded in 2011, serving 500+ brands worldwide.</a:t>
            </a:r>
          </a:p>
          <a:p>
            <a:pPr>
              <a:spcAft>
                <a:spcPts val="1000"/>
              </a:spcAft>
              <a:defRPr sz="2000"/>
            </a:pPr>
            <a:r>
              <a:t>We believe environmental responsibility shouldn't be a premium feature—it should be the standard.</a:t>
            </a:r>
          </a:p>
          <a:p>
            <a:pPr>
              <a:spcAft>
                <a:spcPts val="1000"/>
              </a:spcAft>
              <a:defRPr sz="2000"/>
            </a:pPr>
            <a:r>
              <a:t>Bridging the gap between eco-friendly materials and high-performance needs.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Why Brands Choose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Low MOQs: Start with just 100 pieces.</a:t>
            </a:r>
          </a:p>
          <a:p>
            <a:pPr>
              <a:spcAft>
                <a:spcPts val="1000"/>
              </a:spcAft>
              <a:defRPr sz="2000"/>
            </a:pPr>
            <a:r>
              <a:t>Fast Turnaround: Samples in 2-3 weeks.</a:t>
            </a:r>
          </a:p>
          <a:p>
            <a:pPr>
              <a:spcAft>
                <a:spcPts val="1000"/>
              </a:spcAft>
              <a:defRPr sz="2000"/>
            </a:pPr>
            <a:r>
              <a:t>Real Certifications: EN13432, GRS-Certified.</a:t>
            </a:r>
          </a:p>
          <a:p>
            <a:pPr>
              <a:spcAft>
                <a:spcPts val="1000"/>
              </a:spcAft>
              <a:defRPr sz="2000"/>
            </a:pPr>
            <a:r>
              <a:t>Cost Effective: Save 15-22% on shipping.</a:t>
            </a:r>
          </a:p>
          <a:p>
            <a:pPr>
              <a:spcAft>
                <a:spcPts val="1000"/>
              </a:spcAft>
              <a:defRPr sz="2000"/>
            </a:pPr>
            <a:r>
              <a:t>No Greenwashing: Full transparency.</a:t>
            </a:r>
          </a:p>
        </p:txBody>
      </p:sp>
      <p:pic>
        <p:nvPicPr>
          <p:cNvPr id="4" name="Picture 3" descr="ppt_product_showcase_17692488825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Sustainable Material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Compostable (Kraft + PLA / NatureFlex):</a:t>
            </a:r>
          </a:p>
          <a:p>
            <a:pPr>
              <a:spcAft>
                <a:spcPts val="1000"/>
              </a:spcAft>
              <a:defRPr sz="2000"/>
            </a:pPr>
            <a:r>
              <a:t>   - Breaks down in 90-180 days.</a:t>
            </a:r>
          </a:p>
          <a:p>
            <a:pPr>
              <a:spcAft>
                <a:spcPts val="1000"/>
              </a:spcAft>
              <a:defRPr sz="2000"/>
            </a:pPr>
            <a:r>
              <a:t>   - Ideal for coffee, tea, and dry goods.</a:t>
            </a:r>
          </a:p>
          <a:p>
            <a:pPr>
              <a:spcAft>
                <a:spcPts val="1000"/>
              </a:spcAft>
              <a:defRPr sz="2000"/>
            </a:pPr>
            <a:r>
              <a:t>Recyclable Mono-PE &amp; Mono-PP:</a:t>
            </a:r>
          </a:p>
          <a:p>
            <a:pPr>
              <a:spcAft>
                <a:spcPts val="1000"/>
              </a:spcAft>
              <a:defRPr sz="2000"/>
            </a:pPr>
            <a:r>
              <a:t>   - Single material structure = Actually recyclable.</a:t>
            </a:r>
          </a:p>
          <a:p>
            <a:pPr>
              <a:spcAft>
                <a:spcPts val="1000"/>
              </a:spcAft>
              <a:defRPr sz="2000"/>
            </a:pPr>
            <a:r>
              <a:t>   - High barrier options available (EVOH).</a:t>
            </a:r>
          </a:p>
          <a:p>
            <a:pPr>
              <a:spcAft>
                <a:spcPts val="1000"/>
              </a:spcAft>
              <a:defRPr sz="2000"/>
            </a:pPr>
            <a:r>
              <a:t>PCR (Post-Consumer Recycled):</a:t>
            </a:r>
          </a:p>
          <a:p>
            <a:pPr>
              <a:spcAft>
                <a:spcPts val="1000"/>
              </a:spcAft>
              <a:defRPr sz="2000"/>
            </a:pPr>
            <a:r>
              <a:t>   - Made from plastics that already existed.</a:t>
            </a:r>
          </a:p>
          <a:p>
            <a:pPr>
              <a:spcAft>
                <a:spcPts val="1000"/>
              </a:spcAft>
              <a:defRPr sz="2000"/>
            </a:pPr>
            <a:r>
              <a:t>   - GRS Certified content (30-100%).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Packaging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Stand-Up Pouches: Great shelf presence.</a:t>
            </a:r>
          </a:p>
          <a:p>
            <a:pPr>
              <a:spcAft>
                <a:spcPts val="1000"/>
              </a:spcAft>
              <a:defRPr sz="2000"/>
            </a:pPr>
            <a:r>
              <a:t>Flat Bottom Bags: Premium 'box' look.</a:t>
            </a:r>
          </a:p>
          <a:p>
            <a:pPr>
              <a:spcAft>
                <a:spcPts val="1000"/>
              </a:spcAft>
              <a:defRPr sz="2000"/>
            </a:pPr>
            <a:r>
              <a:t>Spout Pouches: Liquid-ready.</a:t>
            </a:r>
          </a:p>
          <a:p>
            <a:pPr>
              <a:spcAft>
                <a:spcPts val="1000"/>
              </a:spcAft>
              <a:defRPr sz="2000"/>
            </a:pPr>
            <a:r>
              <a:t>Vacuum Pouches: Extended shelf life.</a:t>
            </a:r>
          </a:p>
          <a:p>
            <a:pPr>
              <a:spcAft>
                <a:spcPts val="1000"/>
              </a:spcAft>
              <a:defRPr sz="2000"/>
            </a:pPr>
            <a:r>
              <a:t>Rollstock: For automated lines.</a:t>
            </a:r>
          </a:p>
        </p:txBody>
      </p:sp>
      <p:pic>
        <p:nvPicPr>
          <p:cNvPr id="4" name="Picture 3" descr="ppt_hero_packaging_1769248866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Industries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Coffee &amp; Tea: High barrier valves, kraft aesthetics.</a:t>
            </a:r>
          </a:p>
          <a:p>
            <a:pPr>
              <a:spcAft>
                <a:spcPts val="1000"/>
              </a:spcAft>
              <a:defRPr sz="2000"/>
            </a:pPr>
            <a:r>
              <a:t>Pet Food: Odor-blocking, durable, large formats.</a:t>
            </a:r>
          </a:p>
          <a:p>
            <a:pPr>
              <a:spcAft>
                <a:spcPts val="1000"/>
              </a:spcAft>
              <a:defRPr sz="2000"/>
            </a:pPr>
            <a:r>
              <a:t>Supplements: Moisture control for powders.</a:t>
            </a:r>
          </a:p>
          <a:p>
            <a:pPr>
              <a:spcAft>
                <a:spcPts val="1000"/>
              </a:spcAft>
              <a:defRPr sz="2000"/>
            </a:pPr>
            <a:r>
              <a:t>Beauty &amp; Cosmetics: Premium finishes.</a:t>
            </a:r>
          </a:p>
          <a:p>
            <a:pPr>
              <a:spcAft>
                <a:spcPts val="1000"/>
              </a:spcAft>
              <a:defRPr sz="2000"/>
            </a:pPr>
            <a:r>
              <a:t>Food &amp; Snacks: FDA-compliant, grease-resistant.</a:t>
            </a:r>
          </a:p>
          <a:p>
            <a:pPr>
              <a:spcAft>
                <a:spcPts val="1000"/>
              </a:spcAft>
              <a:defRPr sz="2000"/>
            </a:pPr>
            <a:r>
              <a:t>Frozen Food: Cold-resistant materials.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Success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Bean &amp; Bole Coffee: Compostable bags + freshman protection.</a:t>
            </a:r>
          </a:p>
          <a:p>
            <a:pPr>
              <a:spcAft>
                <a:spcPts val="1000"/>
              </a:spcAft>
              <a:defRPr sz="2000"/>
            </a:pPr>
            <a:r>
              <a:t>VitalGreen Superfoods: Recyclable Mono-PE for 8 SKUs.</a:t>
            </a:r>
          </a:p>
          <a:p>
            <a:pPr>
              <a:spcAft>
                <a:spcPts val="1000"/>
              </a:spcAft>
              <a:defRPr sz="2000"/>
            </a:pPr>
            <a:r>
              <a:t>Pawsome Naturals: Child-Resistant PCR packaging.</a:t>
            </a:r>
          </a:p>
          <a:p>
            <a:pPr>
              <a:spcAft>
                <a:spcPts val="1000"/>
              </a:spcAft>
              <a:defRPr sz="2000"/>
            </a:pPr>
            <a:r>
              <a:t>Artisan Cocoa (Dubai): Heat-resistant packaging.</a:t>
            </a:r>
          </a:p>
        </p:txBody>
      </p:sp>
      <p:pic>
        <p:nvPicPr>
          <p:cNvPr id="4" name="Picture 3" descr="ppt_product_showcase_17692488825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4D2E"/>
                </a:solidFill>
              </a:defRPr>
            </a:pPr>
            <a:r>
              <a:t>Quality &amp; Certifications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/>
            </a:pPr>
            <a:r>
              <a:t>Certified Compostable: EN 13432, ASTM D6400.</a:t>
            </a:r>
          </a:p>
          <a:p>
            <a:pPr>
              <a:spcAft>
                <a:spcPts val="1000"/>
              </a:spcAft>
              <a:defRPr sz="2000"/>
            </a:pPr>
            <a:r>
              <a:t>Start-of-Life: FSC Certified Paper, Bio-based PE.</a:t>
            </a:r>
          </a:p>
          <a:p>
            <a:pPr>
              <a:spcAft>
                <a:spcPts val="1000"/>
              </a:spcAft>
              <a:defRPr sz="2000"/>
            </a:pPr>
            <a:r>
              <a:t>End-of-Life: TUV Austria OK Compost, GRS.</a:t>
            </a:r>
          </a:p>
          <a:p>
            <a:pPr>
              <a:spcAft>
                <a:spcPts val="1000"/>
              </a:spcAft>
              <a:defRPr sz="2000"/>
            </a:pPr>
            <a:r>
              <a:t>Food Safety: FDA 21 CFR, EU 10/2011 Compliance.</a:t>
            </a:r>
          </a:p>
          <a:p>
            <a:pPr>
              <a:spcAft>
                <a:spcPts val="1000"/>
              </a:spcAft>
              <a:defRPr sz="2000"/>
            </a:pPr>
            <a:r>
              <a:t>Testing: Seal strength, OTR/MVTR (Barrier checking).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4D2E"/>
                </a:solidFill>
              </a:defRPr>
            </a:pPr>
            <a:r>
              <a:t>Ready to Switch?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  <a:defRPr sz="2400" b="1"/>
            </a:pPr>
            <a:r>
              <a:t>Start your sustainable packaging journey today.</a:t>
            </a:r>
          </a:p>
          <a:p>
            <a:pPr>
              <a:defRPr sz="2000"/>
            </a:pPr>
            <a:r>
              <a:t>Web: achievepack.com</a:t>
            </a:r>
            <a:br/>
            <a:r>
              <a:t>Email: ryan@achievepack.com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